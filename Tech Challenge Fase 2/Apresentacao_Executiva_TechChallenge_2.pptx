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83E141-D211-4F19-A1BC-F2261B7BEB0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B2AD66-1A93-49D7-8E49-F4B8C9A8DBA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C9EBC5-28ED-46AF-A3C4-84A53611EB2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BCC990-974B-490B-89CF-6E439888F45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1DB437-6EC5-4F7F-A0C4-F70F9605A74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0226CA-EDC0-41DB-8ABB-FBCD90621C4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7536AA-C535-46BF-A039-A64017242DC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206CAD-3D1D-4C6C-A4EA-297983DBCC2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7A01B4-0D26-4BC7-A548-89D06A3E707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FA8D92E-560B-4E4B-851C-EA703DD6B09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duas vezes para adicionar uma figura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C5BE013-E9A6-4912-A9B3-C1079C49C93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34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35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36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E98AA4-0685-4BF1-A915-705EAF59E04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adrã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 rot="5400000">
            <a:off x="1166400" y="776880"/>
            <a:ext cx="4525560" cy="617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7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38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39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651CB9-0477-42B7-BAFA-A04EA6F33B0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adrã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 rot="5400000">
            <a:off x="2818080" y="2428920"/>
            <a:ext cx="5851080" cy="15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 rot="5400000">
            <a:off x="-325080" y="942480"/>
            <a:ext cx="5851080" cy="451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40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ftr" idx="41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sldNum" idx="42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9FFC0F-EAE4-41F1-95A7-AA2F8B7EABB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14440" y="2130480"/>
            <a:ext cx="582912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dt" idx="43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ftr" idx="44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sldNum" idx="45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5C1B33-14E6-42F1-9BAC-6136FCB1624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343080" y="1600200"/>
            <a:ext cx="61718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46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47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48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207ABA-FCD2-4A86-BEE9-0D479B4CACF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1800" y="4406760"/>
            <a:ext cx="582912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41800" y="2906640"/>
            <a:ext cx="582912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9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50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51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C9E64F-62D2-4A00-AA9F-2746FB04DC7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343080" y="1600200"/>
            <a:ext cx="30286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486240" y="1600200"/>
            <a:ext cx="30286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52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53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54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C9DDD7-BD74-4EF5-A596-133E0076D32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43080" y="1535040"/>
            <a:ext cx="30297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343080" y="2174760"/>
            <a:ext cx="30297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3483720" y="1535040"/>
            <a:ext cx="303120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3483720" y="2174760"/>
            <a:ext cx="303120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dt" idx="55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ftr" idx="56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8"/>
          <p:cNvSpPr>
            <a:spLocks noGrp="1"/>
          </p:cNvSpPr>
          <p:nvPr>
            <p:ph type="sldNum" idx="57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1B931F-D32C-465D-802E-CC0CF8099CC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dt" idx="58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ftr" idx="59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60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A38A0C-147B-4342-8949-63571C7A5CC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43080" y="272880"/>
            <a:ext cx="22557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2681280" y="272880"/>
            <a:ext cx="383364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343080" y="1434960"/>
            <a:ext cx="22557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dt" idx="61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ftr" idx="62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sldNum" idx="63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747D990-1886-486F-9FDF-5145FA2C8B3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344240" y="4800600"/>
            <a:ext cx="4114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pic"/>
          </p:nvPr>
        </p:nvSpPr>
        <p:spPr>
          <a:xfrm>
            <a:off x="1344240" y="61272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duas vezes para adicionar uma figura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1344240" y="5367240"/>
            <a:ext cx="41144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64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65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66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383D24-35DC-48C4-A510-73308EC752A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59;p25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/>
            <a:endParaRPr lang="pt-BR" sz="1350" b="0" u="none" strike="noStrike">
              <a:solidFill>
                <a:srgbClr val="38BDF8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60;p25"/>
          <p:cNvSpPr/>
          <p:nvPr/>
        </p:nvSpPr>
        <p:spPr>
          <a:xfrm>
            <a:off x="685800" y="1715040"/>
            <a:ext cx="777204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 Oportunidade à Arquitetura Executável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1;p25"/>
          <p:cNvSpPr/>
          <p:nvPr/>
        </p:nvSpPr>
        <p:spPr>
          <a:xfrm>
            <a:off x="1028880" y="3222000"/>
            <a:ext cx="70862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lang="pt-BR" sz="13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Estratégia Corporativa de IA Agêntica: Governança, Topologias Multiagentes e Viabilidade Econômica</a:t>
            </a:r>
            <a:endParaRPr lang="pt-BR" sz="1350" b="0" u="none" strike="noStrike">
              <a:solidFill>
                <a:srgbClr val="94A3B8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2;p25"/>
          <p:cNvSpPr/>
          <p:nvPr/>
        </p:nvSpPr>
        <p:spPr>
          <a:xfrm>
            <a:off x="1714680" y="4482000"/>
            <a:ext cx="57146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D2FF"/>
                </a:solidFill>
                <a:effectLst/>
                <a:uFillTx/>
                <a:latin typeface="Calibri"/>
                <a:ea typeface="Calibri"/>
              </a:rPr>
              <a:t>🏢 Consultoria de IA Agêntica   |   📅 Setembro 2026   |   🎯 Caso Olist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680" b="0" u="none" strike="noStrike">
                <a:solidFill>
                  <a:srgbClr val="C8C8C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7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Google Shape;164;p25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165;p25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Google Shape;166;p25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67;p25"/>
          <p:cNvSpPr/>
          <p:nvPr/>
        </p:nvSpPr>
        <p:spPr>
          <a:xfrm>
            <a:off x="301320" y="5766840"/>
            <a:ext cx="849672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Alessandro Dos Santos - RM376092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André Palermo - RM374038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Michel Lages Balbuena - RM375667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72;p26"/>
          <p:cNvSpPr/>
          <p:nvPr/>
        </p:nvSpPr>
        <p:spPr>
          <a:xfrm>
            <a:off x="-4680" y="0"/>
            <a:ext cx="920880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3;p26"/>
          <p:cNvSpPr/>
          <p:nvPr/>
        </p:nvSpPr>
        <p:spPr>
          <a:xfrm>
            <a:off x="500040" y="1310760"/>
            <a:ext cx="79488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 O Funil de 6 Iniciativas: Da Ambiguidade à Priorização Formal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83;p26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84;p26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Fonte: Dataset Público Olist (99k+ pedidos unificados) | Framework AI-RICE &amp; RAND Study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85;p26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680" b="0" u="none" strike="noStrike">
                <a:solidFill>
                  <a:srgbClr val="C8C8C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7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187;p26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188;p26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189;p26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189" descr="matriz_impacto_viabilidade_risco.png"/>
          <p:cNvPicPr/>
          <p:nvPr/>
        </p:nvPicPr>
        <p:blipFill>
          <a:blip r:embed="rId3"/>
          <a:stretch/>
        </p:blipFill>
        <p:spPr>
          <a:xfrm>
            <a:off x="548640" y="1800000"/>
            <a:ext cx="4491360" cy="41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ounded Rectangle 190"/>
          <p:cNvSpPr/>
          <p:nvPr/>
        </p:nvSpPr>
        <p:spPr>
          <a:xfrm>
            <a:off x="5314320" y="1800000"/>
            <a:ext cx="3253680" cy="406872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FILTROS METODOLÓGICOS (FASE 2)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Regra do Gargalo (MIT Sloan / Anthropic):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Viabilidade ditada estritamente pela menor nota técnica.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Matriz EPOCH de Diagnóstico: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Iniciativa F (Boletos) enviada para CRM clássico.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110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RANKING FORMAL AI-RICE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1º Agente Reviews (CX): 864 pts [Agora]</a:t>
            </a:r>
            <a:br>
              <a:rPr sz="920"/>
            </a:b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2º Agente Logística: 400 pts [Em seguida]</a:t>
            </a:r>
            <a:br>
              <a:rPr sz="920"/>
            </a:b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3º Agente Sellers (Churn): 375 pts [Em seguida]</a:t>
            </a:r>
            <a:endParaRPr lang="pt-BR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1000" b="1" u="none" strike="noStrike">
                <a:solidFill>
                  <a:srgbClr val="F87171"/>
                </a:solidFill>
                <a:effectLst/>
                <a:uFillTx/>
                <a:latin typeface="Arial"/>
                <a:ea typeface="Arial"/>
              </a:rPr>
              <a:t>DESCARTE PRECOCE CONSCIENTE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8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Reprecificação Autônoma (Iniciativa E):</a:t>
            </a:r>
            <a:br>
              <a:rPr sz="880"/>
            </a:br>
            <a:r>
              <a:rPr lang="pt-BR" sz="88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  Eliminada por Risco Crítico (4.8) e ausência de APIs.</a:t>
            </a:r>
            <a:endParaRPr lang="pt-BR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94;p27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95;p27"/>
          <p:cNvSpPr/>
          <p:nvPr/>
        </p:nvSpPr>
        <p:spPr>
          <a:xfrm>
            <a:off x="548640" y="1205280"/>
            <a:ext cx="73713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2. Topologia Multiagente Hierárquica &amp; Loop Cognitivo BDI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202;p27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03;p27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Topologia: Supervisor-Worker Pattern | Loop BDI | Padrão Arquitetural Cap. 1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204;p27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680" b="0" u="none" strike="noStrike">
                <a:solidFill>
                  <a:srgbClr val="C8C8C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7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Google Shape;206;p27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Google Shape;207;p27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Google Shape;208;p27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208"/>
          <p:cNvSpPr/>
          <p:nvPr/>
        </p:nvSpPr>
        <p:spPr>
          <a:xfrm>
            <a:off x="548640" y="1920240"/>
            <a:ext cx="2559960" cy="411444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1. INGESTÃO &amp; LGPD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Gateway Kafka / Webhooks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Filtro Regex de PII: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Anonimização de CPF, telefones e nomes antes de atingir os modelos.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Trilha de Auditoria: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Conformidade com Art. 20 da LGPD (revisão humana expressa).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Blindagem de Dados Privados: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Zero Data Retention em provedores.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209"/>
          <p:cNvSpPr/>
          <p:nvPr/>
        </p:nvSpPr>
        <p:spPr>
          <a:xfrm>
            <a:off x="3291840" y="1920240"/>
            <a:ext cx="2559960" cy="411444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2. SUPERVISOR &amp; BDI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Orquestrador Central: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Topologia Hierárquica Supervisor.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Loop Cognitivo BDI: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- Beliefs: Histórico Olist &amp; RAG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- Desires: Metas de NPS e retenção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- Intentions: Tool calling estruturado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Shared State: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Grafo de sessão e logs unificados.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210"/>
          <p:cNvSpPr/>
          <p:nvPr/>
        </p:nvSpPr>
        <p:spPr>
          <a:xfrm>
            <a:off x="6035040" y="1920240"/>
            <a:ext cx="2559960" cy="411444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3. TRÍADE ESPECIALISTA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Agente 1 (Reviews &amp; CX):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NLU de sentimento e acolhimento.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Agente 2 (Logística):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Auditoria causal e SLAs de frete.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Agente 3 (Sellers/Churn):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Reativação da base de R$ 4,5M.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APIs Integradas: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Zendesk, Lakehouse e Rastreio.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213;p2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14;p28"/>
          <p:cNvSpPr/>
          <p:nvPr/>
        </p:nvSpPr>
        <p:spPr>
          <a:xfrm>
            <a:off x="548640" y="1174680"/>
            <a:ext cx="75513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3. Human-Centered AI (HCAI) &amp; Storyboards das 3 Jornadas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19;p28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20;p28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Framework: Ben Shneiderman (Stanford HAI) | Copiloto Supervisionado nos Primeiros 90 Dias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21;p28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680" b="0" u="none" strike="noStrike">
                <a:solidFill>
                  <a:srgbClr val="C8C8C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7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Google Shape;223;p28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oogle Shape;224;p28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Google Shape;225;p28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225" descr="matriz_hcai_shneiderman.png"/>
          <p:cNvPicPr/>
          <p:nvPr/>
        </p:nvPicPr>
        <p:blipFill>
          <a:blip r:embed="rId3"/>
          <a:stretch/>
        </p:blipFill>
        <p:spPr>
          <a:xfrm>
            <a:off x="548640" y="1920240"/>
            <a:ext cx="485136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ounded Rectangle 226"/>
          <p:cNvSpPr/>
          <p:nvPr/>
        </p:nvSpPr>
        <p:spPr>
          <a:xfrm>
            <a:off x="5618880" y="1920240"/>
            <a:ext cx="2985120" cy="406872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PILAR HCAI: AUTOMAÇÃO COM CONTROLE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8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Rejeita 'caixas pretas' sem supervisão. Agentes operam como Copilotos com Human-in-the-Loop (HITL) nos primeiros 90 dias.</a:t>
            </a:r>
            <a:endParaRPr lang="pt-BR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05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AS 3 JORNADAS OPERACIONAIS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[J1] Resolução de Atrasos (CX):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Rascunho empático pronto em segundos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Aprovação pelo analista de SAC em 1 clique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Redução da perda de NPS em até 25%</a:t>
            </a:r>
            <a:br>
              <a:rPr sz="850"/>
            </a:b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[J2] Diagnóstico de Frete (Logística):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Auditoria causal justa: Seller vs. Correios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Proteção da reputação de sellers pontuais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Alerta preventivo antes da reclamação</a:t>
            </a:r>
            <a:br>
              <a:rPr sz="850"/>
            </a:b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[J3] Reativação de Churn (Sellers):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Análise RFM da base hibernada (R$ 4,57M)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- Recomendações afins com teto de cupom (10%)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230;p29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31;p29"/>
          <p:cNvSpPr/>
          <p:nvPr/>
        </p:nvSpPr>
        <p:spPr>
          <a:xfrm>
            <a:off x="548640" y="1184400"/>
            <a:ext cx="80913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4. Viabilidade Financeira, Governança e Transição para a Fase 3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36;p29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37;p29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Modelagem TCO em 12 Meses | Ponto de Equilíbrio no Mês 4 | Governança RACI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38;p29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680" b="0" u="none" strike="noStrike">
                <a:solidFill>
                  <a:srgbClr val="C8C8C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7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Google Shape;240;p29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241;p29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Google Shape;242;p29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A3284D"/>
                </a:solidFill>
                <a:effectLst/>
                <a:uFillTx/>
                <a:latin typeface="Calibri"/>
                <a:ea typeface="Calibri"/>
              </a:rPr>
              <a:t>Agentes de IA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242" descr="curva_tco_12meses.png"/>
          <p:cNvPicPr/>
          <p:nvPr/>
        </p:nvPicPr>
        <p:blipFill>
          <a:blip r:embed="rId3"/>
          <a:stretch/>
        </p:blipFill>
        <p:spPr>
          <a:xfrm>
            <a:off x="548640" y="1920240"/>
            <a:ext cx="503136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Rounded Rectangle 243"/>
          <p:cNvSpPr/>
          <p:nvPr/>
        </p:nvSpPr>
        <p:spPr>
          <a:xfrm>
            <a:off x="5638320" y="1920240"/>
            <a:ext cx="2893680" cy="406872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RETORNO FINANCEIRO DO TCO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Break-Even Operacional: MÊS 4</a:t>
            </a:r>
            <a:br>
              <a:rPr sz="900"/>
            </a:b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Custo por Ticket: De R$ 14,80 para R$ 2,40</a:t>
            </a:r>
            <a:br>
              <a:rPr sz="900"/>
            </a:b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(-83,8% de redução no custo operacional)</a:t>
            </a:r>
            <a:br>
              <a:rPr sz="900"/>
            </a:b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DPO com Poder de Veto &amp; Kill Switch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05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BENCHMARKING LOW-CODE (FASE 3)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Sem vendor lock-in prematuro. PoC técnica entre: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n8n (Soberania de dados / LGPD / Webhooks)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Dify.ai (LLMOps visual / Gestão de RAG)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LangFlow (Grafos agênticos complexos)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Make (Conectores SaaS rápidos)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0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PEDIDO DE APROVAÇÃO C-LEVEL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Contratos de dados e schemas JSON validados.</a:t>
            </a:r>
            <a:br>
              <a:rPr sz="920"/>
            </a:b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Solicitamos aprovação para início da Fase 3!</a:t>
            </a:r>
            <a:endParaRPr lang="pt-BR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2026-09-17T15:32:30Z</dcterms:modified>
  <cp:revision>1</cp:revision>
  <dc:subject/>
  <dc:title/>
</cp:coreProperties>
</file>