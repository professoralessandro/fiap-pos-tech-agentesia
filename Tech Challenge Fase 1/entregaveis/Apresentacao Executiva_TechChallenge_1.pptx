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6c1335334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6c1335334_2_75:notes"/>
          <p:cNvSpPr/>
          <p:nvPr>
            <p:ph idx="2" type="sldImg"/>
          </p:nvPr>
        </p:nvSpPr>
        <p:spPr>
          <a:xfrm>
            <a:off x="1714707" y="685800"/>
            <a:ext cx="342926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6c1335334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6c1335334_2_84:notes"/>
          <p:cNvSpPr/>
          <p:nvPr>
            <p:ph idx="2" type="sldImg"/>
          </p:nvPr>
        </p:nvSpPr>
        <p:spPr>
          <a:xfrm>
            <a:off x="1714707" y="685800"/>
            <a:ext cx="342926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6c1335334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6c1335334_2_103:notes"/>
          <p:cNvSpPr/>
          <p:nvPr>
            <p:ph idx="2" type="sldImg"/>
          </p:nvPr>
        </p:nvSpPr>
        <p:spPr>
          <a:xfrm>
            <a:off x="1714707" y="685800"/>
            <a:ext cx="342926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6c1335334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6c1335334_2_119:notes"/>
          <p:cNvSpPr/>
          <p:nvPr>
            <p:ph idx="2" type="sldImg"/>
          </p:nvPr>
        </p:nvSpPr>
        <p:spPr>
          <a:xfrm>
            <a:off x="1714707" y="685800"/>
            <a:ext cx="342926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6c1335334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6c1335334_2_133:notes"/>
          <p:cNvSpPr/>
          <p:nvPr>
            <p:ph idx="2" type="sldImg"/>
          </p:nvPr>
        </p:nvSpPr>
        <p:spPr>
          <a:xfrm>
            <a:off x="1714707" y="685800"/>
            <a:ext cx="342926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342909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2343212" y="6356350"/>
            <a:ext cx="21717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4915031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514364" y="2130425"/>
            <a:ext cx="5829455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028727" y="3886200"/>
            <a:ext cx="480072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342909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2343212" y="6356350"/>
            <a:ext cx="21717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4915031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42909" y="274638"/>
            <a:ext cx="617236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342909" y="1600200"/>
            <a:ext cx="617236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342909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2343212" y="6356350"/>
            <a:ext cx="21717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4915031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541749" y="4406900"/>
            <a:ext cx="5829455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541749" y="2906713"/>
            <a:ext cx="5829455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342909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2343212" y="6356350"/>
            <a:ext cx="21717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4915031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42909" y="274638"/>
            <a:ext cx="617236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42909" y="1600200"/>
            <a:ext cx="3029031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3486243" y="1600200"/>
            <a:ext cx="3029031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342909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2343212" y="6356350"/>
            <a:ext cx="21717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4915031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42909" y="274638"/>
            <a:ext cx="617236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342909" y="1535113"/>
            <a:ext cx="3030222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342909" y="2174875"/>
            <a:ext cx="3030222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3483862" y="1535113"/>
            <a:ext cx="3031412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3483862" y="2174875"/>
            <a:ext cx="3031412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342909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2343212" y="6356350"/>
            <a:ext cx="21717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4915031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42909" y="274638"/>
            <a:ext cx="617236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342909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2343212" y="6356350"/>
            <a:ext cx="21717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4915031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42909" y="273050"/>
            <a:ext cx="2256295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2681359" y="273050"/>
            <a:ext cx="3833915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342909" y="1435100"/>
            <a:ext cx="225629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342909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2343212" y="6356350"/>
            <a:ext cx="21717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4915031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344252" y="4800600"/>
            <a:ext cx="411491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344252" y="612775"/>
            <a:ext cx="411491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344252" y="5367338"/>
            <a:ext cx="411491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342909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2343212" y="6356350"/>
            <a:ext cx="21717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4915031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42909" y="274638"/>
            <a:ext cx="617236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1166110" y="776999"/>
            <a:ext cx="4525963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342909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2343212" y="6356350"/>
            <a:ext cx="21717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4915031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2817966" y="2428855"/>
            <a:ext cx="5851525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-325368" y="942915"/>
            <a:ext cx="5851525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342909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2343212" y="6356350"/>
            <a:ext cx="21717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4915031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342909" y="274638"/>
            <a:ext cx="617236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342909" y="1600200"/>
            <a:ext cx="617236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342909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2343212" y="6356350"/>
            <a:ext cx="21717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4915031" y="6356350"/>
            <a:ext cx="16002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-151" y="0"/>
            <a:ext cx="9144000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685818" y="1715114"/>
            <a:ext cx="7772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Transformação em IA Agêntica</a:t>
            </a:r>
            <a:endParaRPr/>
          </a:p>
        </p:txBody>
      </p:sp>
      <p:sp>
        <p:nvSpPr>
          <p:cNvPr id="161" name="Google Shape;161;p25"/>
          <p:cNvSpPr txBox="1"/>
          <p:nvPr/>
        </p:nvSpPr>
        <p:spPr>
          <a:xfrm>
            <a:off x="1028727" y="3222063"/>
            <a:ext cx="708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Estratégia de Inteligência Artificial para Qualidade Logística, CX e Escala no Olist Intelligent Marketplace</a:t>
            </a:r>
            <a:endParaRPr/>
          </a:p>
        </p:txBody>
      </p:sp>
      <p:sp>
        <p:nvSpPr>
          <p:cNvPr id="162" name="Google Shape;162;p25"/>
          <p:cNvSpPr/>
          <p:nvPr/>
        </p:nvSpPr>
        <p:spPr>
          <a:xfrm>
            <a:off x="1714546" y="4589824"/>
            <a:ext cx="5715000" cy="7314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🏢 Consultoria de IA Agêntica   |   📅 Julho 2026   |   🎯 Caso Olist</a:t>
            </a:r>
            <a:endParaRPr/>
          </a:p>
        </p:txBody>
      </p:sp>
      <p:sp>
        <p:nvSpPr>
          <p:cNvPr id="163" name="Google Shape;163;p25"/>
          <p:cNvSpPr txBox="1"/>
          <p:nvPr>
            <p:ph idx="4294967295" type="body"/>
          </p:nvPr>
        </p:nvSpPr>
        <p:spPr>
          <a:xfrm>
            <a:off x="3188399" y="530600"/>
            <a:ext cx="2552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73">
                <a:solidFill>
                  <a:srgbClr val="C8C8C8"/>
                </a:solidFill>
              </a:rPr>
              <a:t>Tech Challenge – Fase 1	</a:t>
            </a:r>
            <a:r>
              <a:rPr lang="en-US" sz="2000">
                <a:solidFill>
                  <a:srgbClr val="C8C8C8"/>
                </a:solidFill>
              </a:rPr>
              <a:t>						         </a:t>
            </a:r>
            <a:endParaRPr/>
          </a:p>
        </p:txBody>
      </p:sp>
      <p:pic>
        <p:nvPicPr>
          <p:cNvPr id="164" name="Google Shape;164;p25" title="mob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6554" y="72775"/>
            <a:ext cx="2552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 title="logo-pos-tec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50" y="88500"/>
            <a:ext cx="2060176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 txBox="1"/>
          <p:nvPr/>
        </p:nvSpPr>
        <p:spPr>
          <a:xfrm>
            <a:off x="3180206" y="104850"/>
            <a:ext cx="2627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A3284D"/>
                </a:solidFill>
                <a:latin typeface="Calibri"/>
                <a:ea typeface="Calibri"/>
                <a:cs typeface="Calibri"/>
                <a:sym typeface="Calibri"/>
              </a:rPr>
              <a:t>Agentes de IA</a:t>
            </a:r>
            <a:endParaRPr sz="3200">
              <a:solidFill>
                <a:srgbClr val="A328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301150" y="5766800"/>
            <a:ext cx="84969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3284D"/>
                </a:solidFill>
                <a:latin typeface="Calibri"/>
                <a:ea typeface="Calibri"/>
                <a:cs typeface="Calibri"/>
                <a:sym typeface="Calibri"/>
              </a:rPr>
              <a:t>Alessandro Dos Santos - RM376092</a:t>
            </a:r>
            <a:endParaRPr sz="1200">
              <a:solidFill>
                <a:srgbClr val="A328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3284D"/>
                </a:solidFill>
                <a:latin typeface="Calibri"/>
                <a:ea typeface="Calibri"/>
                <a:cs typeface="Calibri"/>
                <a:sym typeface="Calibri"/>
              </a:rPr>
              <a:t>André Palermo - RM374038</a:t>
            </a:r>
            <a:endParaRPr sz="1200">
              <a:solidFill>
                <a:srgbClr val="A328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3284D"/>
                </a:solidFill>
                <a:latin typeface="Calibri"/>
                <a:ea typeface="Calibri"/>
                <a:cs typeface="Calibri"/>
                <a:sym typeface="Calibri"/>
              </a:rPr>
              <a:t>Michel Lages Balbuena - RM375667</a:t>
            </a:r>
            <a:endParaRPr sz="1200">
              <a:solidFill>
                <a:srgbClr val="A328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3284D"/>
                </a:solidFill>
                <a:latin typeface="Calibri"/>
                <a:ea typeface="Calibri"/>
                <a:cs typeface="Calibri"/>
                <a:sym typeface="Calibri"/>
              </a:rPr>
              <a:t>Spencer Bento - RM377023</a:t>
            </a:r>
            <a:endParaRPr sz="1200">
              <a:solidFill>
                <a:srgbClr val="A328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3284D"/>
                </a:solidFill>
                <a:latin typeface="Calibri"/>
                <a:ea typeface="Calibri"/>
                <a:cs typeface="Calibri"/>
                <a:sym typeface="Calibri"/>
              </a:rPr>
              <a:t>Willian Souza - RM375240</a:t>
            </a:r>
            <a:endParaRPr sz="1200">
              <a:solidFill>
                <a:srgbClr val="A328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/>
          <p:nvPr/>
        </p:nvSpPr>
        <p:spPr>
          <a:xfrm>
            <a:off x="-4525" y="0"/>
            <a:ext cx="9209100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500149" y="1310827"/>
            <a:ext cx="79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1. Diagnóstico do Negócio — Dores &amp; Dados</a:t>
            </a:r>
            <a:endParaRPr/>
          </a:p>
        </p:txBody>
      </p:sp>
      <p:sp>
        <p:nvSpPr>
          <p:cNvPr id="174" name="Google Shape;174;p26"/>
          <p:cNvSpPr/>
          <p:nvPr/>
        </p:nvSpPr>
        <p:spPr>
          <a:xfrm>
            <a:off x="548575" y="2326850"/>
            <a:ext cx="2496300" cy="3327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548655" y="2560320"/>
            <a:ext cx="249637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8,1%</a:t>
            </a:r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685818" y="3840480"/>
            <a:ext cx="222205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Taxa de Atraso Logístico</a:t>
            </a:r>
            <a:b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(Entregas fora do prazo)</a:t>
            </a:r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3342702" y="2343975"/>
            <a:ext cx="2496300" cy="33099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3319360" y="2560320"/>
            <a:ext cx="249637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-93 pts</a:t>
            </a:r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3456524" y="3840480"/>
            <a:ext cx="222205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Queda de NPS ao Atrasar</a:t>
            </a:r>
            <a:b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(+73,6 no prazo vs -19,5 atrasado)</a:t>
            </a:r>
            <a:endParaRPr/>
          </a:p>
        </p:txBody>
      </p:sp>
      <p:sp>
        <p:nvSpPr>
          <p:cNvPr id="180" name="Google Shape;180;p26"/>
          <p:cNvSpPr/>
          <p:nvPr/>
        </p:nvSpPr>
        <p:spPr>
          <a:xfrm>
            <a:off x="6090075" y="2343975"/>
            <a:ext cx="2496300" cy="33270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6090066" y="2560320"/>
            <a:ext cx="2496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33,7%</a:t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6227230" y="3840480"/>
            <a:ext cx="222205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Receita em Clientes Hibernantes</a:t>
            </a:r>
            <a:b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(Sem comprar há &gt; 14 meses)</a:t>
            </a:r>
            <a:endParaRPr/>
          </a:p>
        </p:txBody>
      </p:sp>
      <p:sp>
        <p:nvSpPr>
          <p:cNvPr id="183" name="Google Shape;183;p26"/>
          <p:cNvSpPr/>
          <p:nvPr/>
        </p:nvSpPr>
        <p:spPr>
          <a:xfrm>
            <a:off x="548655" y="6126480"/>
            <a:ext cx="8046706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548655" y="6217920"/>
            <a:ext cx="54865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Fonte: Dataset Público Olist (99k+ pedidos unificados)</a:t>
            </a:r>
            <a:endParaRPr/>
          </a:p>
        </p:txBody>
      </p:sp>
      <p:sp>
        <p:nvSpPr>
          <p:cNvPr id="185" name="Google Shape;185;p26"/>
          <p:cNvSpPr txBox="1"/>
          <p:nvPr/>
        </p:nvSpPr>
        <p:spPr>
          <a:xfrm>
            <a:off x="6515274" y="6217920"/>
            <a:ext cx="2080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Página 2</a:t>
            </a:r>
            <a:endParaRPr/>
          </a:p>
        </p:txBody>
      </p:sp>
      <p:sp>
        <p:nvSpPr>
          <p:cNvPr id="186" name="Google Shape;186;p26"/>
          <p:cNvSpPr txBox="1"/>
          <p:nvPr>
            <p:ph idx="4294967295" type="body"/>
          </p:nvPr>
        </p:nvSpPr>
        <p:spPr>
          <a:xfrm>
            <a:off x="3188399" y="530600"/>
            <a:ext cx="2552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73">
                <a:solidFill>
                  <a:srgbClr val="C8C8C8"/>
                </a:solidFill>
              </a:rPr>
              <a:t>Tech Challenge – Fase 1	</a:t>
            </a:r>
            <a:r>
              <a:rPr lang="en-US" sz="2000">
                <a:solidFill>
                  <a:srgbClr val="C8C8C8"/>
                </a:solidFill>
              </a:rPr>
              <a:t>						         </a:t>
            </a:r>
            <a:endParaRPr/>
          </a:p>
        </p:txBody>
      </p:sp>
      <p:pic>
        <p:nvPicPr>
          <p:cNvPr id="187" name="Google Shape;187;p26" title="mob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6554" y="72775"/>
            <a:ext cx="2552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 title="logo-pos-tec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50" y="88500"/>
            <a:ext cx="2060176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/>
          <p:nvPr/>
        </p:nvSpPr>
        <p:spPr>
          <a:xfrm>
            <a:off x="3180206" y="104850"/>
            <a:ext cx="2627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A3284D"/>
                </a:solidFill>
                <a:latin typeface="Calibri"/>
                <a:ea typeface="Calibri"/>
                <a:cs typeface="Calibri"/>
                <a:sym typeface="Calibri"/>
              </a:rPr>
              <a:t>Agentes de IA</a:t>
            </a:r>
            <a:endParaRPr sz="3200">
              <a:solidFill>
                <a:srgbClr val="A328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/>
          <p:nvPr/>
        </p:nvSpPr>
        <p:spPr>
          <a:xfrm>
            <a:off x="0" y="0"/>
            <a:ext cx="914401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548655" y="845206"/>
            <a:ext cx="617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2. O Mapa de Agentes de IA Propostos</a:t>
            </a:r>
            <a:endParaRPr/>
          </a:p>
        </p:txBody>
      </p:sp>
      <p:sp>
        <p:nvSpPr>
          <p:cNvPr id="196" name="Google Shape;196;p27"/>
          <p:cNvSpPr/>
          <p:nvPr/>
        </p:nvSpPr>
        <p:spPr>
          <a:xfrm>
            <a:off x="548655" y="1645920"/>
            <a:ext cx="2496379" cy="4114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754400" y="2011680"/>
            <a:ext cx="2084888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⭐ Review Intelligence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Foco: CX &amp; NPS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Classifica causa raiz em tempo real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Gera resposta empática imediata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Alerta SKUs com defeitos recorrentes</a:t>
            </a:r>
            <a:endParaRPr/>
          </a:p>
        </p:txBody>
      </p:sp>
      <p:sp>
        <p:nvSpPr>
          <p:cNvPr id="198" name="Google Shape;198;p27"/>
          <p:cNvSpPr/>
          <p:nvPr/>
        </p:nvSpPr>
        <p:spPr>
          <a:xfrm>
            <a:off x="3319360" y="1645920"/>
            <a:ext cx="2496379" cy="4114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3525106" y="2011680"/>
            <a:ext cx="2084888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🚚 Logistics Coordinator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Foco: SLA &amp; Operações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Previsão de atrasos em trânsito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Notificação preventiva ao cliente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Mapeia gargalos em transportadoras</a:t>
            </a:r>
            <a:endParaRPr/>
          </a:p>
        </p:txBody>
      </p:sp>
      <p:sp>
        <p:nvSpPr>
          <p:cNvPr id="200" name="Google Shape;200;p27"/>
          <p:cNvSpPr/>
          <p:nvPr/>
        </p:nvSpPr>
        <p:spPr>
          <a:xfrm>
            <a:off x="6090066" y="1645920"/>
            <a:ext cx="2496379" cy="4114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6295812" y="2011680"/>
            <a:ext cx="2084888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📈 Seller Success &amp; Growth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Foco: Retenção &amp; GMV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Mentoria automatizada em 3 passos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Descentraliza oferta (hoje 60% SP)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Reativa clientes hibernantes</a:t>
            </a:r>
            <a:endParaRPr/>
          </a:p>
        </p:txBody>
      </p:sp>
      <p:sp>
        <p:nvSpPr>
          <p:cNvPr id="202" name="Google Shape;202;p27"/>
          <p:cNvSpPr/>
          <p:nvPr/>
        </p:nvSpPr>
        <p:spPr>
          <a:xfrm>
            <a:off x="548655" y="6126480"/>
            <a:ext cx="8046706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548655" y="6217920"/>
            <a:ext cx="54865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Automação ponta a ponta com LLMs e Prompts Estruturados</a:t>
            </a:r>
            <a:endParaRPr/>
          </a:p>
        </p:txBody>
      </p:sp>
      <p:sp>
        <p:nvSpPr>
          <p:cNvPr id="204" name="Google Shape;204;p27"/>
          <p:cNvSpPr txBox="1"/>
          <p:nvPr/>
        </p:nvSpPr>
        <p:spPr>
          <a:xfrm>
            <a:off x="6515274" y="6217920"/>
            <a:ext cx="2080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Página 3</a:t>
            </a:r>
            <a:endParaRPr/>
          </a:p>
        </p:txBody>
      </p:sp>
      <p:sp>
        <p:nvSpPr>
          <p:cNvPr id="205" name="Google Shape;205;p27"/>
          <p:cNvSpPr txBox="1"/>
          <p:nvPr>
            <p:ph idx="4294967295" type="body"/>
          </p:nvPr>
        </p:nvSpPr>
        <p:spPr>
          <a:xfrm>
            <a:off x="3188399" y="530600"/>
            <a:ext cx="2552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73">
                <a:solidFill>
                  <a:srgbClr val="C8C8C8"/>
                </a:solidFill>
              </a:rPr>
              <a:t>Tech Challenge – Fase 1	</a:t>
            </a:r>
            <a:r>
              <a:rPr lang="en-US" sz="2000">
                <a:solidFill>
                  <a:srgbClr val="C8C8C8"/>
                </a:solidFill>
              </a:rPr>
              <a:t>						         </a:t>
            </a:r>
            <a:endParaRPr/>
          </a:p>
        </p:txBody>
      </p:sp>
      <p:pic>
        <p:nvPicPr>
          <p:cNvPr id="206" name="Google Shape;206;p27" title="mob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6554" y="72775"/>
            <a:ext cx="2552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7" title="logo-pos-tec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50" y="88500"/>
            <a:ext cx="2060176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 txBox="1"/>
          <p:nvPr/>
        </p:nvSpPr>
        <p:spPr>
          <a:xfrm>
            <a:off x="3180206" y="104850"/>
            <a:ext cx="2627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A3284D"/>
                </a:solidFill>
                <a:latin typeface="Calibri"/>
                <a:ea typeface="Calibri"/>
                <a:cs typeface="Calibri"/>
                <a:sym typeface="Calibri"/>
              </a:rPr>
              <a:t>Agentes de IA</a:t>
            </a:r>
            <a:endParaRPr sz="3200">
              <a:solidFill>
                <a:srgbClr val="A328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>
            <a:off x="0" y="0"/>
            <a:ext cx="914401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8"/>
          <p:cNvSpPr txBox="1"/>
          <p:nvPr/>
        </p:nvSpPr>
        <p:spPr>
          <a:xfrm>
            <a:off x="548655" y="922807"/>
            <a:ext cx="617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3. Arquitetura Conceitual Inicial</a:t>
            </a:r>
            <a:endParaRPr/>
          </a:p>
        </p:txBody>
      </p:sp>
      <p:sp>
        <p:nvSpPr>
          <p:cNvPr id="215" name="Google Shape;215;p28"/>
          <p:cNvSpPr/>
          <p:nvPr/>
        </p:nvSpPr>
        <p:spPr>
          <a:xfrm>
            <a:off x="548655" y="1645920"/>
            <a:ext cx="3881731" cy="4114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822982" y="2103120"/>
            <a:ext cx="333307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🔄 Ingestão &amp; Orquestração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D2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Fonte: Base Unificada (pedidos, reviews, RFM)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Roteador de Eventos: Dispara agentes por novos reviews ou atrasos detectados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Comunicação Agente-Agente: Agente Logístico notifica o Agente de CX proativamente</a:t>
            </a: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4704713" y="1645920"/>
            <a:ext cx="3881731" cy="4114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4979041" y="2103120"/>
            <a:ext cx="333307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🎯 Destinatários &amp; Ações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D2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Sistema CRM: Notificações preventivas e respostas de atendimento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Portal do Seller: Alertas de qualidade de produto e plano de crescimento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Painel Operacional: Mapeamento de gargalos de rotas e rotatividade</a:t>
            </a:r>
            <a:endParaRPr/>
          </a:p>
        </p:txBody>
      </p:sp>
      <p:sp>
        <p:nvSpPr>
          <p:cNvPr id="219" name="Google Shape;219;p28"/>
          <p:cNvSpPr/>
          <p:nvPr/>
        </p:nvSpPr>
        <p:spPr>
          <a:xfrm>
            <a:off x="548655" y="6126480"/>
            <a:ext cx="8046706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548655" y="6217920"/>
            <a:ext cx="54865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Conexão perfeita entre Dados -&gt; Inteligência -&gt; Ação de Negócio</a:t>
            </a:r>
            <a:endParaRPr/>
          </a:p>
        </p:txBody>
      </p:sp>
      <p:sp>
        <p:nvSpPr>
          <p:cNvPr id="221" name="Google Shape;221;p28"/>
          <p:cNvSpPr txBox="1"/>
          <p:nvPr/>
        </p:nvSpPr>
        <p:spPr>
          <a:xfrm>
            <a:off x="6515274" y="6217920"/>
            <a:ext cx="2080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Página 4</a:t>
            </a:r>
            <a:endParaRPr/>
          </a:p>
        </p:txBody>
      </p:sp>
      <p:sp>
        <p:nvSpPr>
          <p:cNvPr id="222" name="Google Shape;222;p28"/>
          <p:cNvSpPr txBox="1"/>
          <p:nvPr>
            <p:ph idx="4294967295" type="body"/>
          </p:nvPr>
        </p:nvSpPr>
        <p:spPr>
          <a:xfrm>
            <a:off x="3188399" y="530600"/>
            <a:ext cx="2552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73">
                <a:solidFill>
                  <a:srgbClr val="C8C8C8"/>
                </a:solidFill>
              </a:rPr>
              <a:t>Tech Challenge – Fase 1	</a:t>
            </a:r>
            <a:r>
              <a:rPr lang="en-US" sz="2000">
                <a:solidFill>
                  <a:srgbClr val="C8C8C8"/>
                </a:solidFill>
              </a:rPr>
              <a:t>						         </a:t>
            </a:r>
            <a:endParaRPr/>
          </a:p>
        </p:txBody>
      </p:sp>
      <p:pic>
        <p:nvPicPr>
          <p:cNvPr id="223" name="Google Shape;223;p28" title="mob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6554" y="72775"/>
            <a:ext cx="2552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8" title="logo-pos-tec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50" y="88500"/>
            <a:ext cx="2060176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8"/>
          <p:cNvSpPr txBox="1"/>
          <p:nvPr/>
        </p:nvSpPr>
        <p:spPr>
          <a:xfrm>
            <a:off x="3180206" y="104850"/>
            <a:ext cx="2627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A3284D"/>
                </a:solidFill>
                <a:latin typeface="Calibri"/>
                <a:ea typeface="Calibri"/>
                <a:cs typeface="Calibri"/>
                <a:sym typeface="Calibri"/>
              </a:rPr>
              <a:t>Agentes de IA</a:t>
            </a:r>
            <a:endParaRPr sz="3200">
              <a:solidFill>
                <a:srgbClr val="A328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/>
          <p:nvPr/>
        </p:nvSpPr>
        <p:spPr>
          <a:xfrm>
            <a:off x="0" y="0"/>
            <a:ext cx="914401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9"/>
          <p:cNvSpPr txBox="1"/>
          <p:nvPr/>
        </p:nvSpPr>
        <p:spPr>
          <a:xfrm>
            <a:off x="548655" y="932507"/>
            <a:ext cx="617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4. Retorno Esperado &amp; Próximos Passos</a:t>
            </a:r>
            <a:endParaRPr/>
          </a:p>
        </p:txBody>
      </p:sp>
      <p:sp>
        <p:nvSpPr>
          <p:cNvPr id="232" name="Google Shape;232;p29"/>
          <p:cNvSpPr/>
          <p:nvPr/>
        </p:nvSpPr>
        <p:spPr>
          <a:xfrm>
            <a:off x="548655" y="1645920"/>
            <a:ext cx="3881731" cy="4114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822982" y="2103120"/>
            <a:ext cx="333307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💎 Retorno de Negócio (ROI)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D2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Proteção da Marca: Contenção imediata da detração em avaliações 1 estrela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Aumento de Receita: Reativação da base de R$ 4.5M em clientes hibernantes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Escala Eficiente: Suporte inteligente sem inchar equipe humana</a:t>
            </a:r>
            <a:endParaRPr/>
          </a:p>
        </p:txBody>
      </p:sp>
      <p:sp>
        <p:nvSpPr>
          <p:cNvPr id="234" name="Google Shape;234;p29"/>
          <p:cNvSpPr/>
          <p:nvPr/>
        </p:nvSpPr>
        <p:spPr>
          <a:xfrm>
            <a:off x="4704713" y="1645920"/>
            <a:ext cx="3881731" cy="4114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4979041" y="2103120"/>
            <a:ext cx="333307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🚀 Roadmap para a Fase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D2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Instanciação: Conectar prompts com LLMs via LangChain/LangGraph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Pipelines: Conectores de dados em tempo real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Benchmark: Avaliação qualitativa de assertividade das respostas</a:t>
            </a:r>
            <a:endParaRPr/>
          </a:p>
        </p:txBody>
      </p:sp>
      <p:sp>
        <p:nvSpPr>
          <p:cNvPr id="236" name="Google Shape;236;p29"/>
          <p:cNvSpPr/>
          <p:nvPr/>
        </p:nvSpPr>
        <p:spPr>
          <a:xfrm>
            <a:off x="548655" y="6126480"/>
            <a:ext cx="8046706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548655" y="6217920"/>
            <a:ext cx="54865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Olist Intelligent Marketplace — Transformando Dados em Decisões Agênticas</a:t>
            </a:r>
            <a:endParaRPr/>
          </a:p>
        </p:txBody>
      </p:sp>
      <p:sp>
        <p:nvSpPr>
          <p:cNvPr id="238" name="Google Shape;238;p29"/>
          <p:cNvSpPr txBox="1"/>
          <p:nvPr/>
        </p:nvSpPr>
        <p:spPr>
          <a:xfrm>
            <a:off x="6515274" y="6217920"/>
            <a:ext cx="2080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Página 5</a:t>
            </a:r>
            <a:endParaRPr/>
          </a:p>
        </p:txBody>
      </p:sp>
      <p:sp>
        <p:nvSpPr>
          <p:cNvPr id="239" name="Google Shape;239;p29"/>
          <p:cNvSpPr txBox="1"/>
          <p:nvPr>
            <p:ph idx="4294967295" type="body"/>
          </p:nvPr>
        </p:nvSpPr>
        <p:spPr>
          <a:xfrm>
            <a:off x="3188399" y="530600"/>
            <a:ext cx="2552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73">
                <a:solidFill>
                  <a:srgbClr val="C8C8C8"/>
                </a:solidFill>
              </a:rPr>
              <a:t>Tech Challenge – Fase 1	</a:t>
            </a:r>
            <a:r>
              <a:rPr lang="en-US" sz="2000">
                <a:solidFill>
                  <a:srgbClr val="C8C8C8"/>
                </a:solidFill>
              </a:rPr>
              <a:t>						         </a:t>
            </a:r>
            <a:endParaRPr/>
          </a:p>
        </p:txBody>
      </p:sp>
      <p:pic>
        <p:nvPicPr>
          <p:cNvPr id="240" name="Google Shape;240;p29" title="mob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6554" y="72775"/>
            <a:ext cx="25527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9" title="logo-pos-tec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50" y="88500"/>
            <a:ext cx="2060176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9"/>
          <p:cNvSpPr txBox="1"/>
          <p:nvPr/>
        </p:nvSpPr>
        <p:spPr>
          <a:xfrm>
            <a:off x="3180206" y="104850"/>
            <a:ext cx="2627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A3284D"/>
                </a:solidFill>
                <a:latin typeface="Calibri"/>
                <a:ea typeface="Calibri"/>
                <a:cs typeface="Calibri"/>
                <a:sym typeface="Calibri"/>
              </a:rPr>
              <a:t>Agentes de IA</a:t>
            </a:r>
            <a:endParaRPr sz="3200">
              <a:solidFill>
                <a:srgbClr val="A328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